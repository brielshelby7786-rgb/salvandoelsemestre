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 varScale="1">
        <p:scale>
          <a:sx n="78" d="100"/>
          <a:sy n="78" d="100"/>
        </p:scale>
        <p:origin x="37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5/14/2025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146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1499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5/14/2025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803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425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63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055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226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217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6467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245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5/14/2025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617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5/14/2025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0347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5/14/2025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163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647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976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734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5/14/2025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3452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89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FD5CD4E-6BF6-F7CB-46F0-AB0EC64A8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3647" y="322383"/>
            <a:ext cx="4024313" cy="1321881"/>
          </a:xfrm>
          <a:scene3d>
            <a:camera prst="isometricOffAxis2Left"/>
            <a:lightRig rig="threePt" dir="t"/>
          </a:scene3d>
        </p:spPr>
        <p:txBody>
          <a:bodyPr>
            <a:normAutofit/>
          </a:bodyPr>
          <a:lstStyle/>
          <a:p>
            <a:pPr algn="ctr"/>
            <a:r>
              <a:rPr lang="es-BO" sz="1600" b="1" i="1" dirty="0">
                <a:solidFill>
                  <a:srgbClr val="00B0F0"/>
                </a:solidFill>
              </a:rPr>
              <a:t>Estudiantes :</a:t>
            </a:r>
            <a:br>
              <a:rPr lang="es-BO" sz="1600" b="1" i="1" dirty="0">
                <a:solidFill>
                  <a:srgbClr val="00B0F0"/>
                </a:solidFill>
              </a:rPr>
            </a:br>
            <a:r>
              <a:rPr lang="es-BO" sz="1600" b="1" i="1" dirty="0">
                <a:solidFill>
                  <a:srgbClr val="00B0F0"/>
                </a:solidFill>
              </a:rPr>
              <a:t> </a:t>
            </a:r>
            <a:r>
              <a:rPr lang="es-BO" sz="1600" b="1" i="1" dirty="0" err="1">
                <a:solidFill>
                  <a:srgbClr val="00B0F0"/>
                </a:solidFill>
              </a:rPr>
              <a:t>yhonny</a:t>
            </a:r>
            <a:r>
              <a:rPr lang="es-BO" sz="1600" b="1" i="1" dirty="0">
                <a:solidFill>
                  <a:srgbClr val="00B0F0"/>
                </a:solidFill>
              </a:rPr>
              <a:t> </a:t>
            </a:r>
            <a:r>
              <a:rPr lang="es-BO" sz="1600" b="1" i="1" dirty="0" err="1">
                <a:solidFill>
                  <a:srgbClr val="00B0F0"/>
                </a:solidFill>
              </a:rPr>
              <a:t>cAnaza</a:t>
            </a:r>
            <a:r>
              <a:rPr lang="es-BO" sz="1600" b="1" i="1" dirty="0">
                <a:solidFill>
                  <a:srgbClr val="00B0F0"/>
                </a:solidFill>
              </a:rPr>
              <a:t>  garabito</a:t>
            </a:r>
            <a:br>
              <a:rPr lang="es-BO" sz="1600" b="1" i="1" dirty="0">
                <a:solidFill>
                  <a:srgbClr val="00B0F0"/>
                </a:solidFill>
              </a:rPr>
            </a:br>
            <a:r>
              <a:rPr lang="es-BO" sz="1600" b="1" i="1" dirty="0">
                <a:solidFill>
                  <a:srgbClr val="00B0F0"/>
                </a:solidFill>
              </a:rPr>
              <a:t>ELIZABETH AGUILAR CHOQUE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F3B69755-4B84-DBCE-8955-239FD63902B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40643" y="2193925"/>
            <a:ext cx="4024313" cy="4024313"/>
          </a:xfrm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reflection blurRad="6350" stA="50000" endA="300" endPos="38500" dist="50800" dir="5400000" sy="-100000" algn="bl" rotWithShape="0"/>
            <a:softEdge rad="112500"/>
          </a:effectLst>
          <a:scene3d>
            <a:camera prst="perspectiveHeroicExtremeRightFacing"/>
            <a:lightRig rig="threePt" dir="t"/>
          </a:scene3d>
          <a:sp3d>
            <a:bevelT prst="convex"/>
          </a:sp3d>
        </p:spPr>
      </p:pic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C6A35232-99ED-A8CF-4BAB-22ECF8E67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>
            <a:normAutofit fontScale="77500" lnSpcReduction="20000"/>
          </a:bodyPr>
          <a:lstStyle/>
          <a:p>
            <a:r>
              <a:rPr lang="es-MX" b="1" dirty="0"/>
              <a:t>Que son los micronutrientes</a:t>
            </a:r>
          </a:p>
          <a:p>
            <a:r>
              <a:rPr lang="es-MX" dirty="0"/>
              <a:t>son nutrientes esenciales que el cuerpo necesita en pequeñas cantidades para funcionar correctamente. Incluyen:</a:t>
            </a:r>
          </a:p>
          <a:p>
            <a:r>
              <a:rPr lang="es-MX" dirty="0"/>
              <a:t>1. Vitaminas (A, C, D, E, K, B).</a:t>
            </a:r>
          </a:p>
          <a:p>
            <a:r>
              <a:rPr lang="es-MX" dirty="0"/>
              <a:t>2. Minerales (hierro, calcio, zinc, magnesio, potasio).</a:t>
            </a:r>
          </a:p>
          <a:p>
            <a:r>
              <a:rPr lang="es-MX" dirty="0"/>
              <a:t>Estos nutrientes apoyan diversas funciones corporales, como:</a:t>
            </a:r>
          </a:p>
          <a:p>
            <a:r>
              <a:rPr lang="es-MX" dirty="0"/>
              <a:t>1. Crecimiento y desarrollo.</a:t>
            </a:r>
          </a:p>
          <a:p>
            <a:r>
              <a:rPr lang="es-MX" dirty="0"/>
              <a:t>2. Metabolismo energético.</a:t>
            </a:r>
          </a:p>
          <a:p>
            <a:r>
              <a:rPr lang="es-MX" dirty="0"/>
              <a:t>3. Función inmunológica.</a:t>
            </a:r>
          </a:p>
          <a:p>
            <a:r>
              <a:rPr lang="es-MX" dirty="0"/>
              <a:t>4. Salud ósea y muscular.</a:t>
            </a:r>
          </a:p>
          <a:p>
            <a:r>
              <a:rPr lang="es-MX" dirty="0"/>
              <a:t>5. Regulación hormonal.</a:t>
            </a:r>
            <a:endParaRPr lang="es-BO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49F2B46-378C-775F-E3DF-6917908689C1}"/>
              </a:ext>
            </a:extLst>
          </p:cNvPr>
          <p:cNvSpPr/>
          <p:nvPr/>
        </p:nvSpPr>
        <p:spPr>
          <a:xfrm>
            <a:off x="3807503" y="1079292"/>
            <a:ext cx="8772289" cy="923330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Blackadder ITC" panose="04020505051007020D02" pitchFamily="82" charset="0"/>
              </a:rPr>
              <a:t>MICRONUTRIENTES</a:t>
            </a:r>
            <a:r>
              <a:rPr lang="es-E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05801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uiExpand="1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8285B6C-964B-1271-FC19-8556EDA75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495" y="901531"/>
            <a:ext cx="8610600" cy="1293028"/>
          </a:xfrm>
        </p:spPr>
        <p:txBody>
          <a:bodyPr/>
          <a:lstStyle/>
          <a:p>
            <a:pPr algn="ctr"/>
            <a:r>
              <a:rPr lang="es-BO" dirty="0">
                <a:latin typeface="Bell MT" panose="02020503060305020303" pitchFamily="18" charset="0"/>
              </a:rPr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303A12-DD8C-C729-A452-10AB08F477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MX" b="1" dirty="0"/>
              <a:t>Definición de micronutrientes.- </a:t>
            </a:r>
          </a:p>
          <a:p>
            <a:pPr marL="0" indent="0">
              <a:buNone/>
            </a:pPr>
            <a:r>
              <a:rPr lang="es-MX" dirty="0"/>
              <a:t>En el ámbito de la nutrición, los micronutrientes desempeñan un papel crucial en el mantenimiento de la salud y el funcionamiento óptimo del organismo</a:t>
            </a:r>
            <a:r>
              <a:rPr lang="es-MX" b="1" dirty="0"/>
              <a:t>.</a:t>
            </a:r>
          </a:p>
          <a:p>
            <a:r>
              <a:rPr lang="es-MX" b="1" dirty="0"/>
              <a:t>Importancia en la dieta.</a:t>
            </a:r>
          </a:p>
          <a:p>
            <a:r>
              <a:rPr lang="es-MX" b="1" dirty="0"/>
              <a:t>Diferencia entre macronutrientes y micronutrientes.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64A6AEBF-02D6-17EE-A3AE-1CEBE2B780C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27345" y="2194227"/>
            <a:ext cx="4023709" cy="4023709"/>
          </a:xfrm>
          <a:prstGeom prst="rect">
            <a:avLst/>
          </a:prstGeom>
          <a:ln>
            <a:noFill/>
          </a:ln>
          <a:effectLst>
            <a:reflection blurRad="6350" stA="50000" endA="275" endPos="40000" dist="101600" dir="5400000" sy="-100000" algn="bl" rotWithShape="0"/>
            <a:softEdge rad="112500"/>
          </a:effectLst>
          <a:scene3d>
            <a:camera prst="perspectiveContrastingLeftFacing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034513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70D505-CF1C-34BE-D3BE-D81729BED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938" y="639316"/>
            <a:ext cx="8610600" cy="1293028"/>
          </a:xfrm>
        </p:spPr>
        <p:txBody>
          <a:bodyPr/>
          <a:lstStyle/>
          <a:p>
            <a:pPr algn="ctr"/>
            <a:r>
              <a:rPr lang="es-BO" dirty="0"/>
              <a:t>TIPOS DE MICRONUTRIENTES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B6CDFA-63F4-2DDB-98DA-58675EB96D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s-BO" b="1" dirty="0"/>
              <a:t>Vitaminas.</a:t>
            </a:r>
          </a:p>
          <a:p>
            <a:r>
              <a:rPr lang="es-BO" dirty="0"/>
              <a:t>Solubles en agua (</a:t>
            </a:r>
            <a:r>
              <a:rPr lang="es-BO" dirty="0" err="1"/>
              <a:t>ej</a:t>
            </a:r>
            <a:r>
              <a:rPr lang="es-BO" dirty="0"/>
              <a:t> ; vitamina C, B completo)</a:t>
            </a:r>
          </a:p>
          <a:p>
            <a:r>
              <a:rPr lang="es-BO" dirty="0"/>
              <a:t>Solubles en grasa (</a:t>
            </a:r>
            <a:r>
              <a:rPr lang="es-BO" dirty="0" err="1"/>
              <a:t>ej</a:t>
            </a:r>
            <a:r>
              <a:rPr lang="es-BO" dirty="0"/>
              <a:t> ; vitaminas A, D, E.)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BO" b="1" dirty="0"/>
              <a:t>Minerales</a:t>
            </a:r>
          </a:p>
          <a:p>
            <a:r>
              <a:rPr lang="es-BO" dirty="0"/>
              <a:t>Macrominerales (ej. calcio, fósforo).</a:t>
            </a:r>
          </a:p>
          <a:p>
            <a:r>
              <a:rPr lang="es-BO" dirty="0"/>
              <a:t>Micro minerales (ej. hierro, zinc, selenio).</a:t>
            </a:r>
          </a:p>
        </p:txBody>
      </p:sp>
      <p:pic>
        <p:nvPicPr>
          <p:cNvPr id="14" name="Marcador de contenido 13">
            <a:extLst>
              <a:ext uri="{FF2B5EF4-FFF2-40B4-BE49-F238E27FC236}">
                <a16:creationId xmlns:a16="http://schemas.microsoft.com/office/drawing/2014/main" id="{7570663C-7FA5-1775-7BE2-2ACB998848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27043" y="2193925"/>
            <a:ext cx="4024313" cy="4024313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  <a:softEdge rad="112500"/>
          </a:effectLst>
          <a:scene3d>
            <a:camera prst="perspectiveContrastingLeftFacing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42106820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1CB983-9491-6C31-E3FB-FA192FE32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69" y="764373"/>
            <a:ext cx="10696731" cy="1293028"/>
          </a:xfrm>
        </p:spPr>
        <p:txBody>
          <a:bodyPr/>
          <a:lstStyle/>
          <a:p>
            <a:pPr algn="just"/>
            <a:r>
              <a:rPr lang="es-BO" dirty="0"/>
              <a:t>Funciones de los Micronutrientes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996272-F02B-33B9-D0C1-FBD7D1088F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s-MX" b="1" dirty="0"/>
              <a:t>Vitaminas</a:t>
            </a:r>
          </a:p>
          <a:p>
            <a:r>
              <a:rPr lang="es-MX" dirty="0"/>
              <a:t>Funciones en el metabolismo.  - Antioxidantes y protección celular.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MX" b="1" dirty="0"/>
              <a:t>Minerales</a:t>
            </a:r>
          </a:p>
          <a:p>
            <a:r>
              <a:rPr lang="es-MX" dirty="0"/>
              <a:t>Formación de huesos y dientes.  - Regulación de fluidos y funciones nerviosas.</a:t>
            </a:r>
            <a:endParaRPr lang="es-BO" dirty="0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3A22D8D5-9752-D361-D43F-9ED74265C91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27043" y="2193925"/>
            <a:ext cx="4024313" cy="4024313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  <a:softEdge rad="112500"/>
          </a:effectLst>
          <a:scene3d>
            <a:camera prst="perspectiveContrastingLeftFacing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058945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B9EF1-2F54-A823-D1C9-4750486DD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672" y="749383"/>
            <a:ext cx="8610600" cy="1293028"/>
          </a:xfrm>
        </p:spPr>
        <p:txBody>
          <a:bodyPr/>
          <a:lstStyle/>
          <a:p>
            <a:pPr algn="ctr"/>
            <a:r>
              <a:rPr lang="es-BO" dirty="0"/>
              <a:t>Fuentes Alimenticias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B711AE-BABD-8C94-1AC6-EA77F99A82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MX" dirty="0"/>
              <a:t>Frutas y verduras (ej. cítricos para vitamina C).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MX" b="1" dirty="0"/>
              <a:t>Vitaminas : </a:t>
            </a:r>
          </a:p>
          <a:p>
            <a:r>
              <a:rPr lang="es-MX" dirty="0"/>
              <a:t>Productos lácteos y aceites (ej. vitamina D).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MX" b="1" dirty="0"/>
              <a:t>Minerales : </a:t>
            </a:r>
          </a:p>
          <a:p>
            <a:r>
              <a:rPr lang="es-MX" dirty="0"/>
              <a:t>Carnes y legumbres (ej. hierro).</a:t>
            </a:r>
          </a:p>
          <a:p>
            <a:r>
              <a:rPr lang="es-MX" dirty="0"/>
              <a:t>Frutos secos y granos enteros (ej. zinc).</a:t>
            </a:r>
            <a:endParaRPr lang="es-BO" dirty="0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244FBE25-E13D-1AA1-A037-F40859106D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27043" y="2193925"/>
            <a:ext cx="4024313" cy="4024313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  <a:softEdge rad="112500"/>
          </a:effectLst>
          <a:scene3d>
            <a:camera prst="perspectiveContrastingLeftFacing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232609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E60425-5B1D-152D-874B-3669C463B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741" y="639316"/>
            <a:ext cx="8610600" cy="1293028"/>
          </a:xfrm>
        </p:spPr>
        <p:txBody>
          <a:bodyPr/>
          <a:lstStyle/>
          <a:p>
            <a:pPr algn="ctr"/>
            <a:r>
              <a:rPr lang="es-BO" dirty="0"/>
              <a:t>Deficiencias Comunes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0EDA72-C670-D393-9D5B-E20B272751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s-BO" b="1" dirty="0"/>
              <a:t>Vitaminas:    </a:t>
            </a:r>
          </a:p>
          <a:p>
            <a:r>
              <a:rPr lang="es-BO" dirty="0"/>
              <a:t>Escorbuto (deficiencia de vitamina C). </a:t>
            </a:r>
          </a:p>
          <a:p>
            <a:r>
              <a:rPr lang="es-BO" dirty="0"/>
              <a:t> Beriberi (deficiencia de tiamina).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BO" b="1" dirty="0"/>
              <a:t>Minerales:    </a:t>
            </a:r>
          </a:p>
          <a:p>
            <a:r>
              <a:rPr lang="es-BO" dirty="0"/>
              <a:t>Anemia por deficiencia de hierro.</a:t>
            </a:r>
          </a:p>
          <a:p>
            <a:r>
              <a:rPr lang="es-BO" dirty="0"/>
              <a:t>Osteoporosis por deficiencia de calcio.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D30EA429-AB9E-D190-0AB8-D979D5E2CC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27043" y="2074005"/>
            <a:ext cx="4024313" cy="4024313"/>
          </a:xfrm>
          <a:prstGeom prst="rect">
            <a:avLst/>
          </a:prstGeom>
          <a:ln>
            <a:noFill/>
          </a:ln>
          <a:effectLst>
            <a:reflection blurRad="6350" stA="50000" endA="300" endPos="55000" dir="5400000" sy="-100000" algn="bl" rotWithShape="0"/>
            <a:softEdge rad="112500"/>
          </a:effectLst>
          <a:scene3d>
            <a:camera prst="perspectiveContrastingLeftFacing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877630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9D8F3-7D72-B08E-13E7-4C23C6745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s-BO" dirty="0"/>
              <a:t>Recomendaciones Diarias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DD1041-391F-1EEF-BC82-FEB0CAA4C2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BO" sz="3600" dirty="0"/>
              <a:t>•</a:t>
            </a:r>
            <a:r>
              <a:rPr lang="es-BO" sz="2400" dirty="0"/>
              <a:t>Importancia de una dieta equilibrada. </a:t>
            </a:r>
          </a:p>
          <a:p>
            <a:pPr marL="0" indent="0">
              <a:buNone/>
            </a:pPr>
            <a:r>
              <a:rPr lang="es-BO" sz="2400" dirty="0"/>
              <a:t>•Cantidades recomendadas para diferentes grupos de edad.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48E297C9-00E7-948D-3D30-1B741E90129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27043" y="2193925"/>
            <a:ext cx="4024313" cy="4024313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  <a:softEdge rad="112500"/>
          </a:effectLst>
          <a:scene3d>
            <a:camera prst="perspectiveContrastingLeftFacing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562832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2742E-D78D-2518-641E-0DBE53022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741" y="764373"/>
            <a:ext cx="8610600" cy="1293028"/>
          </a:xfrm>
        </p:spPr>
        <p:txBody>
          <a:bodyPr/>
          <a:lstStyle/>
          <a:p>
            <a:pPr algn="ctr"/>
            <a:r>
              <a:rPr lang="es-BO" dirty="0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F8B1E6-34AE-0C13-EFCA-5336687107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•Resumen de la importancia de los micronutrientes. </a:t>
            </a:r>
          </a:p>
          <a:p>
            <a:pPr marL="0" indent="0">
              <a:buNone/>
            </a:pPr>
            <a:r>
              <a:rPr lang="es-MX" dirty="0"/>
              <a:t>•Consejos para asegurar una ingesta adecuada.</a:t>
            </a:r>
            <a:endParaRPr lang="es-BO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6EA8EE8C-D403-D44A-EE4F-E07E7C894A4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27043" y="2178935"/>
            <a:ext cx="4024313" cy="4024313"/>
          </a:xfrm>
          <a:prstGeom prst="rect">
            <a:avLst/>
          </a:prstGeom>
          <a:ln>
            <a:noFill/>
          </a:ln>
          <a:effectLst>
            <a:reflection blurRad="6350" stA="50000" endA="295" endPos="92000" dist="101600" dir="5400000" sy="-100000" algn="bl" rotWithShape="0"/>
            <a:softEdge rad="112500"/>
          </a:effectLst>
          <a:scene3d>
            <a:camera prst="isometricOffAxis2Lef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66610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6DEE077A-C2DD-8852-EAEE-B2E31B360ABC}"/>
              </a:ext>
            </a:extLst>
          </p:cNvPr>
          <p:cNvSpPr/>
          <p:nvPr/>
        </p:nvSpPr>
        <p:spPr>
          <a:xfrm>
            <a:off x="667265" y="1905506"/>
            <a:ext cx="9319223" cy="3046988"/>
          </a:xfrm>
          <a:prstGeom prst="rect">
            <a:avLst/>
          </a:prstGeom>
          <a:noFill/>
          <a:effectLst>
            <a:glow rad="101600">
              <a:schemeClr val="accent6">
                <a:satMod val="175000"/>
                <a:alpha val="40000"/>
              </a:schemeClr>
            </a:glow>
            <a:reflection blurRad="6350" stA="50000" endA="295" endPos="92000" dist="101600" dir="5400000" sy="-100000" algn="bl" rotWithShape="0"/>
          </a:effectLst>
          <a:scene3d>
            <a:camera prst="isometricTopUp"/>
            <a:lightRig rig="threePt" dir="t"/>
          </a:scene3d>
          <a:sp3d>
            <a:bevelT w="114300" prst="artDeco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9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Blackadder ITC" panose="04020505051007020D02" pitchFamily="82" charset="0"/>
              </a:rPr>
              <a:t>¡¡¡¡</a:t>
            </a:r>
            <a:r>
              <a:rPr lang="es-ES" sz="96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Blackadder ITC" panose="04020505051007020D02" pitchFamily="82" charset="0"/>
              </a:rPr>
              <a:t>GRACIAS¡¡¡¡</a:t>
            </a:r>
          </a:p>
        </p:txBody>
      </p:sp>
    </p:spTree>
    <p:extLst>
      <p:ext uri="{BB962C8B-B14F-4D97-AF65-F5344CB8AC3E}">
        <p14:creationId xmlns:p14="http://schemas.microsoft.com/office/powerpoint/2010/main" val="2052191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TM04033937[[fn=Estela de condensación]]</Template>
  <TotalTime>342</TotalTime>
  <Words>338</Words>
  <Application>Microsoft Office PowerPoint</Application>
  <PresentationFormat>Panorámica</PresentationFormat>
  <Paragraphs>50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Bell MT</vt:lpstr>
      <vt:lpstr>Blackadder ITC</vt:lpstr>
      <vt:lpstr>Century Gothic</vt:lpstr>
      <vt:lpstr>Wingdings</vt:lpstr>
      <vt:lpstr>Estela de condensación</vt:lpstr>
      <vt:lpstr>Estudiantes :  yhonny cAnaza  garabito ELIZABETH AGUILAR CHOQUE</vt:lpstr>
      <vt:lpstr>Introducción </vt:lpstr>
      <vt:lpstr>TIPOS DE MICRONUTRIENTES</vt:lpstr>
      <vt:lpstr>Funciones de los Micronutrientes </vt:lpstr>
      <vt:lpstr>Fuentes Alimenticias</vt:lpstr>
      <vt:lpstr>Deficiencias Comunes </vt:lpstr>
      <vt:lpstr>Recomendaciones Diarias </vt:lpstr>
      <vt:lpstr>Conclusión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Grabiel Callapa Jancko</dc:creator>
  <cp:lastModifiedBy>Luis Grabiel Callapa Jancko</cp:lastModifiedBy>
  <cp:revision>11</cp:revision>
  <dcterms:created xsi:type="dcterms:W3CDTF">2025-04-23T18:01:53Z</dcterms:created>
  <dcterms:modified xsi:type="dcterms:W3CDTF">2025-05-15T00:31:04Z</dcterms:modified>
</cp:coreProperties>
</file>